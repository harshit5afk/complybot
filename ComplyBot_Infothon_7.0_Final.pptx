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nton" panose="020F0502020204030204" pitchFamily="2" charset="0"/>
      <p:regular r:id="rId8"/>
    </p:embeddedFont>
    <p:embeddedFont>
      <p:font typeface="Canva Sans" panose="020B0604020202020204" charset="0"/>
      <p:regular r:id="rId9"/>
    </p:embeddedFont>
    <p:embeddedFont>
      <p:font typeface="Canva Sans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942285" y="2476500"/>
            <a:ext cx="16517730" cy="0"/>
          </a:xfrm>
          <a:prstGeom prst="line">
            <a:avLst/>
          </a:prstGeom>
          <a:ln w="104775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flipH="1">
            <a:off x="1201727" y="910874"/>
            <a:ext cx="0" cy="1830919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flipH="1">
            <a:off x="17211675" y="878033"/>
            <a:ext cx="0" cy="1830919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1354127" y="1597734"/>
            <a:ext cx="0" cy="131523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7050873" y="1566634"/>
            <a:ext cx="0" cy="131523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14809664" y="434545"/>
            <a:ext cx="2065449" cy="1770655"/>
          </a:xfrm>
          <a:custGeom>
            <a:avLst/>
            <a:gdLst/>
            <a:ahLst/>
            <a:cxnLst/>
            <a:rect l="l" t="t" r="r" b="b"/>
            <a:pathLst>
              <a:path w="2065449" h="1770655">
                <a:moveTo>
                  <a:pt x="0" y="0"/>
                </a:moveTo>
                <a:lnTo>
                  <a:pt x="2065449" y="0"/>
                </a:lnTo>
                <a:lnTo>
                  <a:pt x="2065449" y="1770655"/>
                </a:lnTo>
                <a:lnTo>
                  <a:pt x="0" y="1770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487" r="-4487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741165" y="2994817"/>
            <a:ext cx="83811" cy="83811"/>
          </a:xfrm>
          <a:custGeom>
            <a:avLst/>
            <a:gdLst/>
            <a:ahLst/>
            <a:cxnLst/>
            <a:rect l="l" t="t" r="r" b="b"/>
            <a:pathLst>
              <a:path w="83811" h="83811">
                <a:moveTo>
                  <a:pt x="0" y="0"/>
                </a:moveTo>
                <a:lnTo>
                  <a:pt x="83810" y="0"/>
                </a:lnTo>
                <a:lnTo>
                  <a:pt x="83810" y="83811"/>
                </a:lnTo>
                <a:lnTo>
                  <a:pt x="0" y="838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741165" y="2994817"/>
            <a:ext cx="83811" cy="83811"/>
          </a:xfrm>
          <a:custGeom>
            <a:avLst/>
            <a:gdLst/>
            <a:ahLst/>
            <a:cxnLst/>
            <a:rect l="l" t="t" r="r" b="b"/>
            <a:pathLst>
              <a:path w="83811" h="83811">
                <a:moveTo>
                  <a:pt x="0" y="0"/>
                </a:moveTo>
                <a:lnTo>
                  <a:pt x="83810" y="0"/>
                </a:lnTo>
                <a:lnTo>
                  <a:pt x="83810" y="83811"/>
                </a:lnTo>
                <a:lnTo>
                  <a:pt x="0" y="838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574720" y="3115568"/>
            <a:ext cx="133187" cy="91908"/>
            <a:chOff x="0" y="0"/>
            <a:chExt cx="741680" cy="511810"/>
          </a:xfrm>
        </p:grpSpPr>
        <p:sp>
          <p:nvSpPr>
            <p:cNvPr id="12" name="Freeform 12"/>
            <p:cNvSpPr/>
            <p:nvPr/>
          </p:nvSpPr>
          <p:spPr>
            <a:xfrm>
              <a:off x="49030" y="50440"/>
              <a:ext cx="641009" cy="411600"/>
            </a:xfrm>
            <a:custGeom>
              <a:avLst/>
              <a:gdLst/>
              <a:ahLst/>
              <a:cxnLst/>
              <a:rect l="l" t="t" r="r" b="b"/>
              <a:pathLst>
                <a:path w="641009" h="411600">
                  <a:moveTo>
                    <a:pt x="18280" y="338180"/>
                  </a:moveTo>
                  <a:cubicBezTo>
                    <a:pt x="429760" y="80370"/>
                    <a:pt x="532630" y="4170"/>
                    <a:pt x="583430" y="360"/>
                  </a:cubicBezTo>
                  <a:cubicBezTo>
                    <a:pt x="605020" y="-2180"/>
                    <a:pt x="624070" y="9250"/>
                    <a:pt x="632960" y="18140"/>
                  </a:cubicBezTo>
                  <a:cubicBezTo>
                    <a:pt x="640580" y="25760"/>
                    <a:pt x="641850" y="37190"/>
                    <a:pt x="640580" y="46080"/>
                  </a:cubicBezTo>
                  <a:cubicBezTo>
                    <a:pt x="638040" y="57510"/>
                    <a:pt x="627880" y="75290"/>
                    <a:pt x="617720" y="81640"/>
                  </a:cubicBezTo>
                  <a:cubicBezTo>
                    <a:pt x="610100" y="86720"/>
                    <a:pt x="598670" y="89260"/>
                    <a:pt x="589780" y="86720"/>
                  </a:cubicBezTo>
                  <a:cubicBezTo>
                    <a:pt x="578350" y="84180"/>
                    <a:pt x="561840" y="74020"/>
                    <a:pt x="555490" y="62590"/>
                  </a:cubicBezTo>
                  <a:cubicBezTo>
                    <a:pt x="550410" y="51160"/>
                    <a:pt x="551680" y="30840"/>
                    <a:pt x="556760" y="20680"/>
                  </a:cubicBezTo>
                  <a:cubicBezTo>
                    <a:pt x="560570" y="11790"/>
                    <a:pt x="569460" y="4170"/>
                    <a:pt x="578350" y="1630"/>
                  </a:cubicBezTo>
                  <a:cubicBezTo>
                    <a:pt x="591050" y="-910"/>
                    <a:pt x="621530" y="4170"/>
                    <a:pt x="630420" y="14330"/>
                  </a:cubicBezTo>
                  <a:cubicBezTo>
                    <a:pt x="639310" y="24490"/>
                    <a:pt x="644390" y="42270"/>
                    <a:pt x="638040" y="56240"/>
                  </a:cubicBezTo>
                  <a:cubicBezTo>
                    <a:pt x="630420" y="77830"/>
                    <a:pt x="593590" y="94340"/>
                    <a:pt x="551680" y="123550"/>
                  </a:cubicBezTo>
                  <a:cubicBezTo>
                    <a:pt x="455160" y="188320"/>
                    <a:pt x="114800" y="394060"/>
                    <a:pt x="51300" y="409300"/>
                  </a:cubicBezTo>
                  <a:cubicBezTo>
                    <a:pt x="36060" y="413110"/>
                    <a:pt x="30980" y="411840"/>
                    <a:pt x="23360" y="408030"/>
                  </a:cubicBezTo>
                  <a:cubicBezTo>
                    <a:pt x="14470" y="404220"/>
                    <a:pt x="6850" y="396600"/>
                    <a:pt x="3040" y="387710"/>
                  </a:cubicBezTo>
                  <a:cubicBezTo>
                    <a:pt x="-770" y="380090"/>
                    <a:pt x="-770" y="368660"/>
                    <a:pt x="1770" y="361040"/>
                  </a:cubicBezTo>
                  <a:cubicBezTo>
                    <a:pt x="4310" y="352150"/>
                    <a:pt x="18280" y="338180"/>
                    <a:pt x="18280" y="338180"/>
                  </a:cubicBezTo>
                </a:path>
              </a:pathLst>
            </a:custGeom>
            <a:solidFill>
              <a:srgbClr val="BDFF42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7574720" y="3115568"/>
            <a:ext cx="133187" cy="91908"/>
            <a:chOff x="0" y="0"/>
            <a:chExt cx="741680" cy="511810"/>
          </a:xfrm>
        </p:grpSpPr>
        <p:sp>
          <p:nvSpPr>
            <p:cNvPr id="14" name="Freeform 14"/>
            <p:cNvSpPr/>
            <p:nvPr/>
          </p:nvSpPr>
          <p:spPr>
            <a:xfrm>
              <a:off x="49030" y="50440"/>
              <a:ext cx="641009" cy="411600"/>
            </a:xfrm>
            <a:custGeom>
              <a:avLst/>
              <a:gdLst/>
              <a:ahLst/>
              <a:cxnLst/>
              <a:rect l="l" t="t" r="r" b="b"/>
              <a:pathLst>
                <a:path w="641009" h="411600">
                  <a:moveTo>
                    <a:pt x="18280" y="338180"/>
                  </a:moveTo>
                  <a:cubicBezTo>
                    <a:pt x="429760" y="80370"/>
                    <a:pt x="532630" y="4170"/>
                    <a:pt x="583430" y="360"/>
                  </a:cubicBezTo>
                  <a:cubicBezTo>
                    <a:pt x="605020" y="-2180"/>
                    <a:pt x="624070" y="9250"/>
                    <a:pt x="632960" y="18140"/>
                  </a:cubicBezTo>
                  <a:cubicBezTo>
                    <a:pt x="640580" y="25760"/>
                    <a:pt x="641850" y="37190"/>
                    <a:pt x="640580" y="46080"/>
                  </a:cubicBezTo>
                  <a:cubicBezTo>
                    <a:pt x="638040" y="57510"/>
                    <a:pt x="627880" y="75290"/>
                    <a:pt x="617720" y="81640"/>
                  </a:cubicBezTo>
                  <a:cubicBezTo>
                    <a:pt x="610100" y="86720"/>
                    <a:pt x="598670" y="89260"/>
                    <a:pt x="589780" y="86720"/>
                  </a:cubicBezTo>
                  <a:cubicBezTo>
                    <a:pt x="578350" y="84180"/>
                    <a:pt x="561840" y="74020"/>
                    <a:pt x="555490" y="62590"/>
                  </a:cubicBezTo>
                  <a:cubicBezTo>
                    <a:pt x="550410" y="51160"/>
                    <a:pt x="551680" y="30840"/>
                    <a:pt x="556760" y="20680"/>
                  </a:cubicBezTo>
                  <a:cubicBezTo>
                    <a:pt x="560570" y="11790"/>
                    <a:pt x="569460" y="4170"/>
                    <a:pt x="578350" y="1630"/>
                  </a:cubicBezTo>
                  <a:cubicBezTo>
                    <a:pt x="591050" y="-910"/>
                    <a:pt x="621530" y="4170"/>
                    <a:pt x="630420" y="14330"/>
                  </a:cubicBezTo>
                  <a:cubicBezTo>
                    <a:pt x="639310" y="24490"/>
                    <a:pt x="644390" y="42270"/>
                    <a:pt x="638040" y="56240"/>
                  </a:cubicBezTo>
                  <a:cubicBezTo>
                    <a:pt x="630420" y="77830"/>
                    <a:pt x="593590" y="94340"/>
                    <a:pt x="551680" y="123550"/>
                  </a:cubicBezTo>
                  <a:cubicBezTo>
                    <a:pt x="455160" y="188320"/>
                    <a:pt x="114800" y="394060"/>
                    <a:pt x="51300" y="409300"/>
                  </a:cubicBezTo>
                  <a:cubicBezTo>
                    <a:pt x="36060" y="413110"/>
                    <a:pt x="30980" y="411840"/>
                    <a:pt x="23360" y="408030"/>
                  </a:cubicBezTo>
                  <a:cubicBezTo>
                    <a:pt x="14470" y="404220"/>
                    <a:pt x="6850" y="396600"/>
                    <a:pt x="3040" y="387710"/>
                  </a:cubicBezTo>
                  <a:cubicBezTo>
                    <a:pt x="-770" y="380090"/>
                    <a:pt x="-770" y="368660"/>
                    <a:pt x="1770" y="361040"/>
                  </a:cubicBezTo>
                  <a:cubicBezTo>
                    <a:pt x="4310" y="352150"/>
                    <a:pt x="18280" y="338180"/>
                    <a:pt x="18280" y="338180"/>
                  </a:cubicBezTo>
                </a:path>
              </a:pathLst>
            </a:custGeom>
            <a:solidFill>
              <a:srgbClr val="BDFF42"/>
            </a:solidFill>
            <a:ln cap="sq">
              <a:noFill/>
              <a:prstDash val="solid"/>
              <a:miter/>
            </a:ln>
          </p:spPr>
        </p:sp>
      </p:grpSp>
      <p:sp>
        <p:nvSpPr>
          <p:cNvPr id="15" name="AutoShape 15"/>
          <p:cNvSpPr/>
          <p:nvPr/>
        </p:nvSpPr>
        <p:spPr>
          <a:xfrm>
            <a:off x="5384703" y="4913490"/>
            <a:ext cx="906533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5083292" y="5044915"/>
            <a:ext cx="0" cy="25219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7713438" y="4996286"/>
            <a:ext cx="83811" cy="83811"/>
          </a:xfrm>
          <a:custGeom>
            <a:avLst/>
            <a:gdLst/>
            <a:ahLst/>
            <a:cxnLst/>
            <a:rect l="l" t="t" r="r" b="b"/>
            <a:pathLst>
              <a:path w="83811" h="83811">
                <a:moveTo>
                  <a:pt x="0" y="0"/>
                </a:moveTo>
                <a:lnTo>
                  <a:pt x="83811" y="0"/>
                </a:lnTo>
                <a:lnTo>
                  <a:pt x="83811" y="83810"/>
                </a:lnTo>
                <a:lnTo>
                  <a:pt x="0" y="838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AutoShape 18"/>
          <p:cNvSpPr/>
          <p:nvPr/>
        </p:nvSpPr>
        <p:spPr>
          <a:xfrm>
            <a:off x="5083292" y="5044915"/>
            <a:ext cx="0" cy="25219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Freeform 19"/>
          <p:cNvSpPr/>
          <p:nvPr/>
        </p:nvSpPr>
        <p:spPr>
          <a:xfrm>
            <a:off x="7713438" y="4996286"/>
            <a:ext cx="83811" cy="83811"/>
          </a:xfrm>
          <a:custGeom>
            <a:avLst/>
            <a:gdLst/>
            <a:ahLst/>
            <a:cxnLst/>
            <a:rect l="l" t="t" r="r" b="b"/>
            <a:pathLst>
              <a:path w="83811" h="83811">
                <a:moveTo>
                  <a:pt x="0" y="0"/>
                </a:moveTo>
                <a:lnTo>
                  <a:pt x="83811" y="0"/>
                </a:lnTo>
                <a:lnTo>
                  <a:pt x="83811" y="83810"/>
                </a:lnTo>
                <a:lnTo>
                  <a:pt x="0" y="838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942285" y="6678999"/>
            <a:ext cx="16575225" cy="1722707"/>
            <a:chOff x="0" y="0"/>
            <a:chExt cx="22100300" cy="229694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011820" cy="2296942"/>
            </a:xfrm>
            <a:custGeom>
              <a:avLst/>
              <a:gdLst/>
              <a:ahLst/>
              <a:cxnLst/>
              <a:rect l="l" t="t" r="r" b="b"/>
              <a:pathLst>
                <a:path w="11011820" h="2296942">
                  <a:moveTo>
                    <a:pt x="0" y="0"/>
                  </a:moveTo>
                  <a:lnTo>
                    <a:pt x="11011820" y="0"/>
                  </a:lnTo>
                  <a:lnTo>
                    <a:pt x="11011820" y="2296942"/>
                  </a:lnTo>
                  <a:lnTo>
                    <a:pt x="0" y="22969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176" t="-372983" r="-114954" b="-131427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1270796" y="664957"/>
              <a:ext cx="3873624" cy="6667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TEAM NAME:</a:t>
              </a:r>
            </a:p>
          </p:txBody>
        </p:sp>
        <p:sp>
          <p:nvSpPr>
            <p:cNvPr id="23" name="Freeform 23"/>
            <p:cNvSpPr/>
            <p:nvPr/>
          </p:nvSpPr>
          <p:spPr>
            <a:xfrm flipH="1">
              <a:off x="11088480" y="0"/>
              <a:ext cx="11011820" cy="2296942"/>
            </a:xfrm>
            <a:custGeom>
              <a:avLst/>
              <a:gdLst/>
              <a:ahLst/>
              <a:cxnLst/>
              <a:rect l="l" t="t" r="r" b="b"/>
              <a:pathLst>
                <a:path w="11011820" h="2296942">
                  <a:moveTo>
                    <a:pt x="11011820" y="0"/>
                  </a:moveTo>
                  <a:lnTo>
                    <a:pt x="0" y="0"/>
                  </a:lnTo>
                  <a:lnTo>
                    <a:pt x="0" y="2296942"/>
                  </a:lnTo>
                  <a:lnTo>
                    <a:pt x="11011820" y="2296942"/>
                  </a:lnTo>
                  <a:lnTo>
                    <a:pt x="11011820" y="0"/>
                  </a:lnTo>
                  <a:close/>
                </a:path>
              </a:pathLst>
            </a:custGeom>
            <a:blipFill>
              <a:blip r:embed="rId5"/>
              <a:stretch>
                <a:fillRect l="-9176" t="-372983" r="-114954" b="-131427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11724705" y="703057"/>
              <a:ext cx="2563713" cy="6667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DOMAIN :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1558502" y="668491"/>
            <a:ext cx="1690640" cy="1591267"/>
          </a:xfrm>
          <a:custGeom>
            <a:avLst/>
            <a:gdLst/>
            <a:ahLst/>
            <a:cxnLst/>
            <a:rect l="l" t="t" r="r" b="b"/>
            <a:pathLst>
              <a:path w="1690640" h="1591267">
                <a:moveTo>
                  <a:pt x="0" y="0"/>
                </a:moveTo>
                <a:lnTo>
                  <a:pt x="1690640" y="0"/>
                </a:lnTo>
                <a:lnTo>
                  <a:pt x="1690640" y="1591267"/>
                </a:lnTo>
                <a:lnTo>
                  <a:pt x="0" y="1591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2601885" y="2862815"/>
            <a:ext cx="13084230" cy="2396050"/>
          </a:xfrm>
          <a:custGeom>
            <a:avLst/>
            <a:gdLst/>
            <a:ahLst/>
            <a:cxnLst/>
            <a:rect l="l" t="t" r="r" b="b"/>
            <a:pathLst>
              <a:path w="13084230" h="2396050">
                <a:moveTo>
                  <a:pt x="0" y="0"/>
                </a:moveTo>
                <a:lnTo>
                  <a:pt x="13084230" y="0"/>
                </a:lnTo>
                <a:lnTo>
                  <a:pt x="13084230" y="2396050"/>
                </a:lnTo>
                <a:lnTo>
                  <a:pt x="0" y="23960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3866369" y="5239790"/>
            <a:ext cx="10775669" cy="778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45"/>
              </a:lnSpc>
              <a:spcBef>
                <a:spcPct val="0"/>
              </a:spcBef>
            </a:pPr>
            <a:r>
              <a:rPr lang="en-US" sz="4603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&lt;&lt;  Architecting an Autonomous Tomorrow.  &gt;&gt;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403455" y="592291"/>
            <a:ext cx="12912745" cy="688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5"/>
              </a:lnSpc>
              <a:spcBef>
                <a:spcPct val="0"/>
              </a:spcBef>
            </a:pPr>
            <a:r>
              <a:rPr lang="en-US" sz="4003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VIDYAVARDHAKA COLLEGE OF ENGINEERING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566486" y="1280884"/>
            <a:ext cx="11855146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D9D9D9"/>
                </a:solidFill>
                <a:latin typeface="Canva Sans"/>
                <a:ea typeface="Canva Sans"/>
                <a:cs typeface="Canva Sans"/>
                <a:sym typeface="Canva Sans"/>
              </a:rPr>
              <a:t>Autonomous Institute | Accredited by NAAC with 'A' Grade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137419" y="1830363"/>
            <a:ext cx="5697967" cy="41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C1FF72"/>
                </a:solidFill>
                <a:latin typeface="Canva Sans"/>
                <a:ea typeface="Canva Sans"/>
                <a:cs typeface="Canva Sans"/>
                <a:sym typeface="Canva Sans"/>
              </a:rPr>
              <a:t>Gokulam 3rd Stage, Mysuru - 570002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00000" y="5900000"/>
            <a:ext cx="13288000" cy="680000"/>
          </a:xfrm>
          <a:prstGeom prst="roundRect">
            <a:avLst/>
          </a:prstGeom>
          <a:solidFill>
            <a:srgbClr val="0A1A11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C1FF72"/>
                </a:solidFill>
                <a:latin typeface="Anton"/>
              </a:rPr>
              <a:t>COMPLYBOT : </a:t>
            </a:r>
            <a:r>
              <a:rPr sz="1300" b="1">
                <a:solidFill>
                  <a:srgbClr val="FFFFFF"/>
                </a:solidFill>
                <a:latin typeface="Arial"/>
              </a:rPr>
              <a:t>AI-Powered Multi-Agent Assistant for Indian Standards &amp; BIS Services  |  </a:t>
            </a:r>
            <a:r>
              <a:rPr sz="1300" b="1">
                <a:solidFill>
                  <a:srgbClr val="C1FF72"/>
                </a:solidFill>
                <a:latin typeface="Arial"/>
              </a:rPr>
              <a:t>PS #04 (SIH26107)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0000" y="7080000"/>
            <a:ext cx="4800000" cy="55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2200" b="1">
                <a:solidFill>
                  <a:srgbClr val="C1FF72"/>
                </a:solidFill>
                <a:latin typeface="Anton"/>
              </a:rPr>
              <a:t>STAR WARS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00000" y="8650000"/>
            <a:ext cx="14288000" cy="50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50">
                <a:solidFill>
                  <a:srgbClr val="A0B9AA"/>
                </a:solidFill>
                <a:latin typeface="Segoe UI"/>
              </a:rPr>
              <a:t>Team: STAR WARS  •  Lead: Harshit Vishwakarma  •  100% Offline GPU Inference via Ollama  •  PS #04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885135" y="1650121"/>
            <a:ext cx="16517730" cy="0"/>
          </a:xfrm>
          <a:prstGeom prst="line">
            <a:avLst/>
          </a:prstGeom>
          <a:ln w="104775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549006" y="940118"/>
            <a:ext cx="0" cy="131523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682356" y="489288"/>
            <a:ext cx="1177667" cy="1108446"/>
          </a:xfrm>
          <a:custGeom>
            <a:avLst/>
            <a:gdLst/>
            <a:ahLst/>
            <a:cxnLst/>
            <a:rect l="l" t="t" r="r" b="b"/>
            <a:pathLst>
              <a:path w="1177667" h="1108446">
                <a:moveTo>
                  <a:pt x="0" y="0"/>
                </a:moveTo>
                <a:lnTo>
                  <a:pt x="1177667" y="0"/>
                </a:lnTo>
                <a:lnTo>
                  <a:pt x="1177667" y="1108446"/>
                </a:lnTo>
                <a:lnTo>
                  <a:pt x="0" y="11084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974323" y="374988"/>
            <a:ext cx="8042229" cy="1046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32"/>
              </a:lnSpc>
              <a:spcBef>
                <a:spcPct val="0"/>
              </a:spcBef>
            </a:pPr>
            <a:r>
              <a:rPr lang="en-US" sz="6166" spc="314">
                <a:solidFill>
                  <a:srgbClr val="C1FF72"/>
                </a:solidFill>
                <a:latin typeface="Anton"/>
                <a:ea typeface="Anton"/>
                <a:cs typeface="Anton"/>
                <a:sym typeface="Anton"/>
              </a:rPr>
              <a:t>PROBLEM IDENTIFICATION</a:t>
            </a:r>
          </a:p>
        </p:txBody>
      </p:sp>
      <p:sp>
        <p:nvSpPr>
          <p:cNvPr id="7" name="AutoShape 7"/>
          <p:cNvSpPr/>
          <p:nvPr/>
        </p:nvSpPr>
        <p:spPr>
          <a:xfrm>
            <a:off x="1387081" y="1053036"/>
            <a:ext cx="0" cy="131523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Rounded Rectangle 7"/>
          <p:cNvSpPr/>
          <p:nvPr/>
        </p:nvSpPr>
        <p:spPr>
          <a:xfrm>
            <a:off x="1400000" y="2000000"/>
            <a:ext cx="4900000" cy="4500000"/>
          </a:xfrm>
          <a:prstGeom prst="roundRect">
            <a:avLst/>
          </a:prstGeom>
          <a:solidFill>
            <a:srgbClr val="07140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1000"/>
              </a:spcAft>
              <a:defRPr b="1" sz="1550">
                <a:solidFill>
                  <a:srgbClr val="C1FF72"/>
                </a:solidFill>
                <a:latin typeface="Arial"/>
              </a:defRPr>
            </a:pPr>
            <a:r>
              <a:t>WHO IS AFFECTED</a:t>
            </a:r>
          </a:p>
          <a:p>
            <a:pPr>
              <a:spcAft>
                <a:spcPts val="9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Indian MSMEs: </a:t>
            </a:r>
            <a:r>
              <a:rPr>
                <a:solidFill>
                  <a:srgbClr val="EBF5EE"/>
                </a:solidFill>
              </a:rPr>
              <a:t>Over 63 million small manufacturers struggling with mandatory BIS compliance.</a:t>
            </a:r>
          </a:p>
          <a:p>
            <a:pPr>
              <a:spcAft>
                <a:spcPts val="9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Consumers &amp; Buyers: </a:t>
            </a:r>
            <a:r>
              <a:rPr>
                <a:solidFill>
                  <a:srgbClr val="EBF5EE"/>
                </a:solidFill>
              </a:rPr>
              <a:t>Citizens purchasing gold jewellery and electronic appliances needing authenticity proof.</a:t>
            </a:r>
          </a:p>
          <a:p>
            <a:pPr>
              <a:spcAft>
                <a:spcPts val="9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Innovators &amp; Students: </a:t>
            </a:r>
            <a:r>
              <a:rPr>
                <a:solidFill>
                  <a:srgbClr val="EBF5EE"/>
                </a:solidFill>
              </a:rPr>
              <a:t>Engineers and researchers seeking exact standard clauses for R&amp;D.</a:t>
            </a:r>
          </a:p>
          <a:p>
            <a:pPr>
              <a:spcAft>
                <a:spcPts val="9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BIS Service Seekers: </a:t>
            </a:r>
            <a:r>
              <a:rPr>
                <a:solidFill>
                  <a:srgbClr val="EBF5EE"/>
                </a:solidFill>
              </a:rPr>
              <a:t>Enterprises looking for accredited testing labs and licensing application flows.</a:t>
            </a:r>
          </a:p>
          <a:p>
            <a:pPr>
              <a:spcAft>
                <a:spcPts val="9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Regulatory Bodies: </a:t>
            </a:r>
            <a:r>
              <a:rPr>
                <a:solidFill>
                  <a:srgbClr val="EBF5EE"/>
                </a:solidFill>
              </a:rPr>
              <a:t>Officials seeking transparent, verifiable tools to curb non-compliant goods.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94000" y="2000000"/>
            <a:ext cx="4900000" cy="4500000"/>
          </a:xfrm>
          <a:prstGeom prst="roundRect">
            <a:avLst/>
          </a:prstGeom>
          <a:solidFill>
            <a:srgbClr val="07140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1000"/>
              </a:spcAft>
              <a:defRPr b="1" sz="1550">
                <a:solidFill>
                  <a:srgbClr val="C1FF72"/>
                </a:solidFill>
                <a:latin typeface="Arial"/>
              </a:defRPr>
            </a:pPr>
            <a:r>
              <a:t>CORE PAIN POINT</a:t>
            </a:r>
          </a:p>
          <a:p>
            <a:pPr>
              <a:spcAft>
                <a:spcPts val="9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Information Dispersion: </a:t>
            </a:r>
            <a:r>
              <a:rPr>
                <a:solidFill>
                  <a:srgbClr val="EBF5EE"/>
                </a:solidFill>
              </a:rPr>
              <a:t>Critical data is scattered across disjointed BIS PDFs and multiple portals.</a:t>
            </a:r>
          </a:p>
          <a:p>
            <a:pPr>
              <a:spcAft>
                <a:spcPts val="9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Complex Certification: </a:t>
            </a:r>
            <a:r>
              <a:rPr>
                <a:solidFill>
                  <a:srgbClr val="EBF5EE"/>
                </a:solidFill>
              </a:rPr>
              <a:t>Heavy confusion regarding scheme differences (ISI Mark vs. CRS vs. FMCS).</a:t>
            </a:r>
          </a:p>
          <a:p>
            <a:pPr>
              <a:spcAft>
                <a:spcPts val="9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Hallmarking Ambiguity: </a:t>
            </a:r>
            <a:r>
              <a:rPr>
                <a:solidFill>
                  <a:srgbClr val="EBF5EE"/>
                </a:solidFill>
              </a:rPr>
              <a:t>Lack of instant consumer tools to verify 6-digit HUID and karat purity.</a:t>
            </a:r>
          </a:p>
          <a:p>
            <a:pPr>
              <a:spcAft>
                <a:spcPts val="9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Testing Lab Friction: </a:t>
            </a:r>
            <a:r>
              <a:rPr>
                <a:solidFill>
                  <a:srgbClr val="EBF5EE"/>
                </a:solidFill>
              </a:rPr>
              <a:t>Painstaking manual search for nearest accredited laboratories by product type.</a:t>
            </a:r>
          </a:p>
          <a:p>
            <a:pPr>
              <a:spcAft>
                <a:spcPts val="9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High Consultancy Cost: </a:t>
            </a:r>
            <a:r>
              <a:rPr>
                <a:solidFill>
                  <a:srgbClr val="EBF5EE"/>
                </a:solidFill>
              </a:rPr>
              <a:t>Small businesses forced to pay hefty agent fees for basic compliance guidance.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988000" y="2000000"/>
            <a:ext cx="4900000" cy="4500000"/>
          </a:xfrm>
          <a:prstGeom prst="roundRect">
            <a:avLst/>
          </a:prstGeom>
          <a:solidFill>
            <a:srgbClr val="07140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1000"/>
              </a:spcAft>
              <a:defRPr b="1" sz="1550">
                <a:solidFill>
                  <a:srgbClr val="C1FF72"/>
                </a:solidFill>
                <a:latin typeface="Arial"/>
              </a:defRPr>
            </a:pPr>
            <a:r>
              <a:t>CURRENT GAP</a:t>
            </a:r>
          </a:p>
          <a:p>
            <a:pPr>
              <a:spcAft>
                <a:spcPts val="9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Keyword Search Failures: </a:t>
            </a:r>
            <a:r>
              <a:rPr>
                <a:solidFill>
                  <a:srgbClr val="EBF5EE"/>
                </a:solidFill>
              </a:rPr>
              <a:t>Existing government portals rely on rigid keywords rather than natural language.</a:t>
            </a:r>
          </a:p>
          <a:p>
            <a:pPr>
              <a:spcAft>
                <a:spcPts val="9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Zero Centralized Reasoning: </a:t>
            </a:r>
            <a:r>
              <a:rPr>
                <a:solidFill>
                  <a:srgbClr val="EBF5EE"/>
                </a:solidFill>
              </a:rPr>
              <a:t>No unified conversational AI layer connecting standards, labs &amp; schemes.</a:t>
            </a:r>
          </a:p>
          <a:p>
            <a:pPr>
              <a:spcAft>
                <a:spcPts val="9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Lack of Traceable Sources: </a:t>
            </a:r>
            <a:r>
              <a:rPr>
                <a:solidFill>
                  <a:srgbClr val="EBF5EE"/>
                </a:solidFill>
              </a:rPr>
              <a:t>General LLMs (ChatGPT) hallucinate rules and cannot cite official clauses.</a:t>
            </a:r>
          </a:p>
          <a:p>
            <a:pPr>
              <a:spcAft>
                <a:spcPts val="9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Language Barriers: </a:t>
            </a:r>
            <a:r>
              <a:rPr>
                <a:solidFill>
                  <a:srgbClr val="EBF5EE"/>
                </a:solidFill>
              </a:rPr>
              <a:t>Over 70% of MSME owners prefer Hindi, but compliance documentation is in complex English.</a:t>
            </a:r>
          </a:p>
          <a:p>
            <a:pPr>
              <a:spcAft>
                <a:spcPts val="9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Data Privacy Concerns: </a:t>
            </a:r>
            <a:r>
              <a:rPr>
                <a:solidFill>
                  <a:srgbClr val="EBF5EE"/>
                </a:solidFill>
              </a:rPr>
              <a:t>Commercial APIs expose enterprise product secrets to public cloud servers.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00000" y="6800000"/>
            <a:ext cx="15488000" cy="2200000"/>
          </a:xfrm>
          <a:prstGeom prst="roundRect">
            <a:avLst/>
          </a:prstGeom>
          <a:solidFill>
            <a:srgbClr val="0A1A11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01168" rIns="320040"/>
          <a:lstStyle/>
          <a:p>
            <a:pPr algn="ctr">
              <a:spcAft>
                <a:spcPts val="600"/>
              </a:spcAft>
              <a:defRPr b="1" sz="1700">
                <a:solidFill>
                  <a:srgbClr val="C1FF72"/>
                </a:solidFill>
                <a:latin typeface="Arial"/>
              </a:defRPr>
            </a:pPr>
            <a:r>
              <a:t>Problem Statement Focus</a:t>
            </a:r>
          </a:p>
          <a:p>
            <a:pPr>
              <a:defRPr sz="1350">
                <a:solidFill>
                  <a:srgbClr val="FFFFFF"/>
                </a:solidFill>
                <a:latin typeface="Segoe UI"/>
              </a:defRPr>
            </a:pPr>
            <a:r>
              <a:t>Create an NLP assistant that answers standards and certification queries for Indian MSMEs with referenced, evidence-backed responses. The broader concept also serves consumers through product, hallmarking and complaint guidance — running entirely locally with 0 API costs and guaranteed source citations.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885135" y="1656923"/>
            <a:ext cx="16517730" cy="0"/>
          </a:xfrm>
          <a:prstGeom prst="line">
            <a:avLst/>
          </a:prstGeom>
          <a:ln w="104775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626615" y="880213"/>
            <a:ext cx="0" cy="131523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2622334" y="413346"/>
            <a:ext cx="7607944" cy="2134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32"/>
              </a:lnSpc>
            </a:pPr>
            <a:r>
              <a:rPr lang="en-US" sz="6166" spc="314">
                <a:solidFill>
                  <a:srgbClr val="C1FF72"/>
                </a:solidFill>
                <a:latin typeface="Anton"/>
                <a:ea typeface="Anton"/>
                <a:cs typeface="Anton"/>
                <a:sym typeface="Anton"/>
              </a:rPr>
              <a:t>PROPOSED SOLUTION</a:t>
            </a:r>
          </a:p>
          <a:p>
            <a:pPr algn="ctr">
              <a:lnSpc>
                <a:spcPts val="8632"/>
              </a:lnSpc>
              <a:spcBef>
                <a:spcPct val="0"/>
              </a:spcBef>
            </a:pPr>
            <a:endParaRPr lang="en-US" sz="6166" spc="314">
              <a:solidFill>
                <a:srgbClr val="C1FF72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977478" y="386190"/>
            <a:ext cx="1223557" cy="1151639"/>
          </a:xfrm>
          <a:custGeom>
            <a:avLst/>
            <a:gdLst/>
            <a:ahLst/>
            <a:cxnLst/>
            <a:rect l="l" t="t" r="r" b="b"/>
            <a:pathLst>
              <a:path w="1223557" h="1151639">
                <a:moveTo>
                  <a:pt x="0" y="0"/>
                </a:moveTo>
                <a:lnTo>
                  <a:pt x="1223557" y="0"/>
                </a:lnTo>
                <a:lnTo>
                  <a:pt x="1223557" y="1151638"/>
                </a:lnTo>
                <a:lnTo>
                  <a:pt x="0" y="11516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>
            <a:off x="1468398" y="716187"/>
            <a:ext cx="0" cy="131523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Rounded Rectangle 8"/>
          <p:cNvSpPr/>
          <p:nvPr/>
        </p:nvSpPr>
        <p:spPr>
          <a:xfrm>
            <a:off x="1400000" y="2000000"/>
            <a:ext cx="2700000" cy="2250000"/>
          </a:xfrm>
          <a:prstGeom prst="roundRect">
            <a:avLst/>
          </a:prstGeom>
          <a:solidFill>
            <a:srgbClr val="07140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64592"/>
          <a:lstStyle/>
          <a:p>
            <a:pPr algn="ctr">
              <a:defRPr b="1" sz="1450">
                <a:solidFill>
                  <a:srgbClr val="C1FF72"/>
                </a:solidFill>
                <a:latin typeface="Arial"/>
              </a:defRPr>
            </a:pPr>
            <a:r>
              <a:t>ASK 💬</a:t>
            </a:r>
          </a:p>
          <a:p>
            <a:pPr algn="ctr">
              <a:spcAft>
                <a:spcPts val="500"/>
              </a:spcAft>
              <a:defRPr b="1" sz="1100">
                <a:solidFill>
                  <a:srgbClr val="4ADE80"/>
                </a:solidFill>
                <a:latin typeface="Segoe UI"/>
              </a:defRPr>
            </a:pPr>
            <a:r>
              <a:t>Natural Language Query</a:t>
            </a:r>
          </a:p>
          <a:p>
            <a:pPr algn="ctr">
              <a:defRPr sz="1050">
                <a:solidFill>
                  <a:srgbClr val="EBF5EE"/>
                </a:solidFill>
                <a:latin typeface="Segoe UI"/>
              </a:defRPr>
            </a:pPr>
            <a:r>
              <a:t>User inputs plain query in English or हिन्दी via chat UI.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40000" y="2750000"/>
            <a:ext cx="370000" cy="60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200">
                <a:solidFill>
                  <a:srgbClr val="4ADE80"/>
                </a:solidFill>
                <a:latin typeface="Segoe UI Symbol"/>
              </a:defRPr>
            </a:pPr>
            <a:r>
              <a:t>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0000" y="2000000"/>
            <a:ext cx="2700000" cy="2250000"/>
          </a:xfrm>
          <a:prstGeom prst="roundRect">
            <a:avLst/>
          </a:prstGeom>
          <a:solidFill>
            <a:srgbClr val="07140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64592"/>
          <a:lstStyle/>
          <a:p>
            <a:pPr algn="ctr">
              <a:defRPr b="1" sz="1450">
                <a:solidFill>
                  <a:srgbClr val="C1FF72"/>
                </a:solidFill>
                <a:latin typeface="Arial"/>
              </a:defRPr>
            </a:pPr>
            <a:r>
              <a:t>ROUTE 🧭</a:t>
            </a:r>
          </a:p>
          <a:p>
            <a:pPr algn="ctr">
              <a:spcAft>
                <a:spcPts val="500"/>
              </a:spcAft>
              <a:defRPr b="1" sz="1100">
                <a:solidFill>
                  <a:srgbClr val="4ADE80"/>
                </a:solidFill>
                <a:latin typeface="Segoe UI"/>
              </a:defRPr>
            </a:pPr>
            <a:r>
              <a:t>Deterministic Routing</a:t>
            </a:r>
          </a:p>
          <a:p>
            <a:pPr algn="ctr">
              <a:defRPr sz="1050">
                <a:solidFill>
                  <a:srgbClr val="EBF5EE"/>
                </a:solidFill>
                <a:latin typeface="Segoe UI"/>
              </a:defRPr>
            </a:pPr>
            <a:r>
              <a:t>Router Agent classifies domain &amp; intent in 0ms (LLM fallback).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0000" y="2750000"/>
            <a:ext cx="370000" cy="60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200">
                <a:solidFill>
                  <a:srgbClr val="4ADE80"/>
                </a:solidFill>
                <a:latin typeface="Segoe UI Symbol"/>
              </a:defRPr>
            </a:pPr>
            <a:r>
              <a:t>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00000" y="2000000"/>
            <a:ext cx="2700000" cy="2250000"/>
          </a:xfrm>
          <a:prstGeom prst="roundRect">
            <a:avLst/>
          </a:prstGeom>
          <a:solidFill>
            <a:srgbClr val="07140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64592"/>
          <a:lstStyle/>
          <a:p>
            <a:pPr algn="ctr">
              <a:defRPr b="1" sz="1450">
                <a:solidFill>
                  <a:srgbClr val="C1FF72"/>
                </a:solidFill>
                <a:latin typeface="Arial"/>
              </a:defRPr>
            </a:pPr>
            <a:r>
              <a:t>RETRIEVE 🔍</a:t>
            </a:r>
          </a:p>
          <a:p>
            <a:pPr algn="ctr">
              <a:spcAft>
                <a:spcPts val="500"/>
              </a:spcAft>
              <a:defRPr b="1" sz="1100">
                <a:solidFill>
                  <a:srgbClr val="4ADE80"/>
                </a:solidFill>
                <a:latin typeface="Segoe UI"/>
              </a:defRPr>
            </a:pPr>
            <a:r>
              <a:t>Vector RAG &amp; Rules</a:t>
            </a:r>
          </a:p>
          <a:p>
            <a:pPr algn="ctr">
              <a:defRPr sz="1050">
                <a:solidFill>
                  <a:srgbClr val="EBF5EE"/>
                </a:solidFill>
                <a:latin typeface="Segoe UI"/>
              </a:defRPr>
            </a:pPr>
            <a:r>
              <a:t>Searches ChromaDB vector store + structured JSON rule engines.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40000" y="2750000"/>
            <a:ext cx="370000" cy="60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200">
                <a:solidFill>
                  <a:srgbClr val="4ADE80"/>
                </a:solidFill>
                <a:latin typeface="Segoe UI Symbol"/>
              </a:defRPr>
            </a:pPr>
            <a:r>
              <a:t>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50000" y="2000000"/>
            <a:ext cx="2700000" cy="2250000"/>
          </a:xfrm>
          <a:prstGeom prst="roundRect">
            <a:avLst/>
          </a:prstGeom>
          <a:solidFill>
            <a:srgbClr val="07140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64592"/>
          <a:lstStyle/>
          <a:p>
            <a:pPr algn="ctr">
              <a:defRPr b="1" sz="1450">
                <a:solidFill>
                  <a:srgbClr val="C1FF72"/>
                </a:solidFill>
                <a:latin typeface="Arial"/>
              </a:defRPr>
            </a:pPr>
            <a:r>
              <a:t>VERIFY 🛡️</a:t>
            </a:r>
          </a:p>
          <a:p>
            <a:pPr algn="ctr">
              <a:spcAft>
                <a:spcPts val="500"/>
              </a:spcAft>
              <a:defRPr b="1" sz="1100">
                <a:solidFill>
                  <a:srgbClr val="4ADE80"/>
                </a:solidFill>
                <a:latin typeface="Segoe UI"/>
              </a:defRPr>
            </a:pPr>
            <a:r>
              <a:t>Evidence Validation</a:t>
            </a:r>
          </a:p>
          <a:p>
            <a:pPr algn="ctr">
              <a:defRPr sz="1050">
                <a:solidFill>
                  <a:srgbClr val="EBF5EE"/>
                </a:solidFill>
                <a:latin typeface="Segoe UI"/>
              </a:defRPr>
            </a:pPr>
            <a:r>
              <a:t>Cross-checks official BIS clauses, testing lab data &amp; purity formulas.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90000" y="2750000"/>
            <a:ext cx="370000" cy="60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200">
                <a:solidFill>
                  <a:srgbClr val="4ADE80"/>
                </a:solidFill>
                <a:latin typeface="Segoe UI Symbol"/>
              </a:defRPr>
            </a:pPr>
            <a:r>
              <a:t>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00000" y="2000000"/>
            <a:ext cx="2700000" cy="2250000"/>
          </a:xfrm>
          <a:prstGeom prst="roundRect">
            <a:avLst/>
          </a:prstGeom>
          <a:solidFill>
            <a:srgbClr val="07140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64592"/>
          <a:lstStyle/>
          <a:p>
            <a:pPr algn="ctr">
              <a:defRPr b="1" sz="1450">
                <a:solidFill>
                  <a:srgbClr val="C1FF72"/>
                </a:solidFill>
                <a:latin typeface="Arial"/>
              </a:defRPr>
            </a:pPr>
            <a:r>
              <a:t>RESPOND ⚡</a:t>
            </a:r>
          </a:p>
          <a:p>
            <a:pPr algn="ctr">
              <a:spcAft>
                <a:spcPts val="500"/>
              </a:spcAft>
              <a:defRPr b="1" sz="1100">
                <a:solidFill>
                  <a:srgbClr val="4ADE80"/>
                </a:solidFill>
                <a:latin typeface="Segoe UI"/>
              </a:defRPr>
            </a:pPr>
            <a:r>
              <a:t>Cited Synthesis</a:t>
            </a:r>
          </a:p>
          <a:p>
            <a:pPr algn="ctr">
              <a:defRPr sz="1050">
                <a:solidFill>
                  <a:srgbClr val="EBF5EE"/>
                </a:solidFill>
                <a:latin typeface="Segoe UI"/>
              </a:defRPr>
            </a:pPr>
            <a:r>
              <a:t>Plain-language answer with Agent Transparency Badge &amp; citations.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00000" y="4550000"/>
            <a:ext cx="7500000" cy="4450000"/>
          </a:xfrm>
          <a:prstGeom prst="roundRect">
            <a:avLst/>
          </a:prstGeom>
          <a:solidFill>
            <a:srgbClr val="07140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1000"/>
              </a:spcAft>
              <a:defRPr b="1" sz="1550">
                <a:solidFill>
                  <a:srgbClr val="C1FF72"/>
                </a:solidFill>
                <a:latin typeface="Arial"/>
              </a:defRPr>
            </a:pPr>
            <a:r>
              <a:t>KEY CAPABILITIES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Standards Q&amp;A: </a:t>
            </a:r>
            <a:r>
              <a:rPr>
                <a:solidFill>
                  <a:srgbClr val="EBF5EE"/>
                </a:solidFill>
              </a:rPr>
              <a:t>Semantic RAG search over BIS standards (IS 16102 for LEDs, IS 14543 for water, IS 9873 for toys).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Certification Schemes: </a:t>
            </a:r>
            <a:r>
              <a:rPr>
                <a:solidFill>
                  <a:srgbClr val="EBF5EE"/>
                </a:solidFill>
              </a:rPr>
              <a:t>Clear walkthroughs for ISI Mark, Compulsory Registration Scheme (CRS), and FMCS.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Instant Hallmarking: </a:t>
            </a:r>
            <a:r>
              <a:rPr>
                <a:solidFill>
                  <a:srgbClr val="EBF5EE"/>
                </a:solidFill>
              </a:rPr>
              <a:t>0ms rule-based verification of gold purity (24K/22K/18K/14K) and 6-digit alphanumeric HUID format.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Lab Finder Agent: </a:t>
            </a:r>
            <a:r>
              <a:rPr>
                <a:solidFill>
                  <a:srgbClr val="EBF5EE"/>
                </a:solidFill>
              </a:rPr>
              <a:t>Locates nearest BIS-recognized testing laboratories filtered by product type and state.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Bilingual Engine: </a:t>
            </a:r>
            <a:r>
              <a:rPr>
                <a:solidFill>
                  <a:srgbClr val="EBF5EE"/>
                </a:solidFill>
              </a:rPr>
              <a:t>Native English and Hindi translation layer powered by Qwen2.5 for inclusive nationwide reach.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88000" y="4550000"/>
            <a:ext cx="7500000" cy="4450000"/>
          </a:xfrm>
          <a:prstGeom prst="roundRect">
            <a:avLst/>
          </a:prstGeom>
          <a:solidFill>
            <a:srgbClr val="07140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1000"/>
              </a:spcAft>
              <a:defRPr b="1" sz="1550">
                <a:solidFill>
                  <a:srgbClr val="C1FF72"/>
                </a:solidFill>
                <a:latin typeface="Arial"/>
              </a:defRPr>
            </a:pPr>
            <a:r>
              <a:t>INNOVATION EDGE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Zero Hallucinations: </a:t>
            </a:r>
            <a:r>
              <a:rPr>
                <a:solidFill>
                  <a:srgbClr val="EBF5EE"/>
                </a:solidFill>
              </a:rPr>
              <a:t>Every response is strictly grounded with exact BIS standard &amp; clause citations.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Transparent Agent Badges: </a:t>
            </a:r>
            <a:r>
              <a:rPr>
                <a:solidFill>
                  <a:srgbClr val="EBF5EE"/>
                </a:solidFill>
              </a:rPr>
              <a:t>Live 'Answered by: [Agent Name]' badges verify multi-agent orchestration for judges.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100% Offline Local AI: </a:t>
            </a:r>
            <a:r>
              <a:rPr>
                <a:solidFill>
                  <a:srgbClr val="EBF5EE"/>
                </a:solidFill>
              </a:rPr>
              <a:t>Runs entirely on consumer GPUs via Ollama — zero cloud bills, zero internet risk during demo.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Deterministic Hybrid Routing: </a:t>
            </a:r>
            <a:r>
              <a:rPr>
                <a:solidFill>
                  <a:srgbClr val="EBF5EE"/>
                </a:solidFill>
              </a:rPr>
              <a:t>Keyword-first dispatch eliminates LLM routing latency for maximum demo reliability.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Flagged Uncertainty: </a:t>
            </a:r>
            <a:r>
              <a:rPr>
                <a:solidFill>
                  <a:srgbClr val="EBF5EE"/>
                </a:solidFill>
              </a:rPr>
              <a:t>Uncertain or out-of-scope queries are explicitly flagged rather than guessed.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885135" y="1600197"/>
            <a:ext cx="16517730" cy="0"/>
          </a:xfrm>
          <a:prstGeom prst="line">
            <a:avLst/>
          </a:prstGeom>
          <a:ln w="104775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354127" y="1028700"/>
            <a:ext cx="0" cy="131523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3095124" y="330697"/>
            <a:ext cx="6239512" cy="105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32"/>
              </a:lnSpc>
              <a:spcBef>
                <a:spcPct val="0"/>
              </a:spcBef>
            </a:pPr>
            <a:r>
              <a:rPr lang="en-US" sz="6166" spc="314">
                <a:solidFill>
                  <a:srgbClr val="C1FF72"/>
                </a:solidFill>
                <a:latin typeface="Anton"/>
                <a:ea typeface="Anton"/>
                <a:cs typeface="Anton"/>
                <a:sym typeface="Anton"/>
              </a:rPr>
              <a:t>TECHNOLOGY STACK</a:t>
            </a:r>
          </a:p>
        </p:txBody>
      </p:sp>
      <p:sp>
        <p:nvSpPr>
          <p:cNvPr id="6" name="Freeform 6"/>
          <p:cNvSpPr/>
          <p:nvPr/>
        </p:nvSpPr>
        <p:spPr>
          <a:xfrm>
            <a:off x="1803157" y="341100"/>
            <a:ext cx="1177667" cy="1108446"/>
          </a:xfrm>
          <a:custGeom>
            <a:avLst/>
            <a:gdLst/>
            <a:ahLst/>
            <a:cxnLst/>
            <a:rect l="l" t="t" r="r" b="b"/>
            <a:pathLst>
              <a:path w="1177667" h="1108446">
                <a:moveTo>
                  <a:pt x="0" y="0"/>
                </a:moveTo>
                <a:lnTo>
                  <a:pt x="1177667" y="0"/>
                </a:lnTo>
                <a:lnTo>
                  <a:pt x="1177667" y="1108446"/>
                </a:lnTo>
                <a:lnTo>
                  <a:pt x="0" y="11084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1211252" y="855553"/>
            <a:ext cx="0" cy="131523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Rounded Rectangle 7"/>
          <p:cNvSpPr/>
          <p:nvPr/>
        </p:nvSpPr>
        <p:spPr>
          <a:xfrm>
            <a:off x="1400000" y="2000000"/>
            <a:ext cx="5700000" cy="1900000"/>
          </a:xfrm>
          <a:prstGeom prst="roundRect">
            <a:avLst/>
          </a:prstGeom>
          <a:solidFill>
            <a:srgbClr val="07140D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237744" bIns="109728"/>
          <a:lstStyle/>
          <a:p>
            <a:pPr algn="ctr">
              <a:spcAft>
                <a:spcPts val="350"/>
              </a:spcAft>
              <a:defRPr sz="10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Technologies: </a:t>
            </a:r>
            <a:r>
              <a:rPr>
                <a:solidFill>
                  <a:srgbClr val="EBF5EE"/>
                </a:solidFill>
              </a:rPr>
              <a:t>HTML5, Vanilla CSS3, Modern JavaScript (ES6+)</a:t>
            </a:r>
          </a:p>
          <a:p>
            <a:pPr>
              <a:spcAft>
                <a:spcPts val="350"/>
              </a:spcAft>
              <a:defRPr sz="10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Interface Design: </a:t>
            </a:r>
            <a:r>
              <a:rPr>
                <a:solidFill>
                  <a:srgbClr val="EBF5EE"/>
                </a:solidFill>
              </a:rPr>
              <a:t>Cyber-minimal dark HUD theme with glassmorphism &amp; responsive sidebar</a:t>
            </a:r>
          </a:p>
          <a:p>
            <a:pPr>
              <a:spcAft>
                <a:spcPts val="350"/>
              </a:spcAft>
              <a:defRPr sz="10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Real-Time Badging: </a:t>
            </a:r>
            <a:r>
              <a:rPr>
                <a:solidFill>
                  <a:srgbClr val="EBF5EE"/>
                </a:solidFill>
              </a:rPr>
              <a:t>Dynamic agent badges proving autonomous routing live</a:t>
            </a:r>
          </a:p>
          <a:p>
            <a:pPr>
              <a:spcAft>
                <a:spcPts val="350"/>
              </a:spcAft>
              <a:defRPr sz="10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Dual Language: </a:t>
            </a:r>
            <a:r>
              <a:rPr>
                <a:solidFill>
                  <a:srgbClr val="EBF5EE"/>
                </a:solidFill>
              </a:rPr>
              <a:t>Instant 1-click toggle between English and हिन्दी with auto-detection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50000" y="1820000"/>
            <a:ext cx="3800000" cy="380000"/>
          </a:xfrm>
          <a:prstGeom prst="roundRect">
            <a:avLst/>
          </a:prstGeom>
          <a:solidFill>
            <a:srgbClr val="2DD4B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06140C"/>
                </a:solidFill>
                <a:latin typeface="Arial"/>
              </a:defRPr>
            </a:pPr>
            <a:r>
              <a:t>FRONTEND LAYER (UI / UX)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0000" y="2000000"/>
            <a:ext cx="5700000" cy="1900000"/>
          </a:xfrm>
          <a:prstGeom prst="roundRect">
            <a:avLst/>
          </a:prstGeom>
          <a:solidFill>
            <a:srgbClr val="07140D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237744" bIns="109728"/>
          <a:lstStyle/>
          <a:p>
            <a:pPr algn="ctr">
              <a:spcAft>
                <a:spcPts val="350"/>
              </a:spcAft>
              <a:defRPr sz="10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API Framework: </a:t>
            </a:r>
            <a:r>
              <a:rPr>
                <a:solidFill>
                  <a:srgbClr val="EBF5EE"/>
                </a:solidFill>
              </a:rPr>
              <a:t>FastAPI Asynchronous REST Server (&lt;15ms latency)</a:t>
            </a:r>
          </a:p>
          <a:p>
            <a:pPr>
              <a:spcAft>
                <a:spcPts val="350"/>
              </a:spcAft>
              <a:defRPr sz="10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Core Endpoint: </a:t>
            </a:r>
            <a:r>
              <a:rPr>
                <a:solidFill>
                  <a:srgbClr val="EBF5EE"/>
                </a:solidFill>
              </a:rPr>
              <a:t>POST /chat handling query payloads &amp; citations</a:t>
            </a:r>
          </a:p>
          <a:p>
            <a:pPr>
              <a:spcAft>
                <a:spcPts val="350"/>
              </a:spcAft>
              <a:defRPr sz="10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Data Validation: </a:t>
            </a:r>
            <a:r>
              <a:rPr>
                <a:solidFill>
                  <a:srgbClr val="EBF5EE"/>
                </a:solidFill>
              </a:rPr>
              <a:t>Pydantic v2 schemas for request validation &amp; error types</a:t>
            </a:r>
          </a:p>
          <a:p>
            <a:pPr>
              <a:spcAft>
                <a:spcPts val="350"/>
              </a:spcAft>
              <a:defRPr sz="10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API Standards: </a:t>
            </a:r>
            <a:r>
              <a:rPr>
                <a:solidFill>
                  <a:srgbClr val="EBF5EE"/>
                </a:solidFill>
              </a:rPr>
              <a:t>OpenAPI 3.0 / Swagger UI docs with CORS middleware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50000" y="1820000"/>
            <a:ext cx="3800000" cy="380000"/>
          </a:xfrm>
          <a:prstGeom prst="roundRect">
            <a:avLst/>
          </a:prstGeom>
          <a:solidFill>
            <a:srgbClr val="2DD4B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06140C"/>
                </a:solidFill>
                <a:latin typeface="Arial"/>
              </a:defRPr>
            </a:pPr>
            <a:r>
              <a:t>API &amp; GATEWAY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00000" y="4200000"/>
            <a:ext cx="5700000" cy="2350000"/>
          </a:xfrm>
          <a:prstGeom prst="roundRect">
            <a:avLst/>
          </a:prstGeom>
          <a:solidFill>
            <a:srgbClr val="07140D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237744" bIns="109728"/>
          <a:lstStyle/>
          <a:p>
            <a:pPr algn="ctr">
              <a:spcAft>
                <a:spcPts val="350"/>
              </a:spcAft>
              <a:defRPr sz="10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Core Runtime: </a:t>
            </a:r>
            <a:r>
              <a:rPr>
                <a:solidFill>
                  <a:srgbClr val="EBF5EE"/>
                </a:solidFill>
              </a:rPr>
              <a:t>Python 3.10+ Multi-Agent State Orchestrator</a:t>
            </a:r>
          </a:p>
          <a:p>
            <a:pPr>
              <a:spcAft>
                <a:spcPts val="350"/>
              </a:spcAft>
              <a:defRPr sz="10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Retriever Agent (RAG): </a:t>
            </a:r>
            <a:r>
              <a:rPr>
                <a:solidFill>
                  <a:srgbClr val="EBF5EE"/>
                </a:solidFill>
              </a:rPr>
              <a:t>Cosine similarity search over ChromaDB for standards (IS 16102, IS 14543)</a:t>
            </a:r>
          </a:p>
          <a:p>
            <a:pPr>
              <a:spcAft>
                <a:spcPts val="350"/>
              </a:spcAft>
              <a:defRPr sz="10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Certification Agent: </a:t>
            </a:r>
            <a:r>
              <a:rPr>
                <a:solidFill>
                  <a:srgbClr val="EBF5EE"/>
                </a:solidFill>
              </a:rPr>
              <a:t>Detailed steps for ISI Mark, CRS &amp; FMCS schemes with timelines</a:t>
            </a:r>
          </a:p>
          <a:p>
            <a:pPr>
              <a:spcAft>
                <a:spcPts val="350"/>
              </a:spcAft>
              <a:defRPr sz="10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Lab Finder Agent: </a:t>
            </a:r>
            <a:r>
              <a:rPr>
                <a:solidFill>
                  <a:srgbClr val="EBF5EE"/>
                </a:solidFill>
              </a:rPr>
              <a:t>Locates nearest testing labs by product &amp; state directory</a:t>
            </a:r>
          </a:p>
          <a:p>
            <a:pPr>
              <a:spcAft>
                <a:spcPts val="350"/>
              </a:spcAft>
              <a:defRPr sz="10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Clause Citations: </a:t>
            </a:r>
            <a:r>
              <a:rPr>
                <a:solidFill>
                  <a:srgbClr val="EBF5EE"/>
                </a:solidFill>
              </a:rPr>
              <a:t>Exact clause-level citations with zero hallucination guarantee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50000" y="4020000"/>
            <a:ext cx="3800000" cy="380000"/>
          </a:xfrm>
          <a:prstGeom prst="roundRect">
            <a:avLst/>
          </a:prstGeom>
          <a:solidFill>
            <a:srgbClr val="C1FF7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06140C"/>
                </a:solidFill>
                <a:latin typeface="Arial"/>
              </a:defRPr>
            </a:pPr>
            <a:r>
              <a:t>BACKEND: INDUSTRY &amp; MSME AGENTS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0000" y="4200000"/>
            <a:ext cx="5700000" cy="2350000"/>
          </a:xfrm>
          <a:prstGeom prst="roundRect">
            <a:avLst/>
          </a:prstGeom>
          <a:solidFill>
            <a:srgbClr val="07140D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237744" bIns="109728"/>
          <a:lstStyle/>
          <a:p>
            <a:pPr algn="ctr">
              <a:spcAft>
                <a:spcPts val="350"/>
              </a:spcAft>
              <a:defRPr sz="10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Router Agent: </a:t>
            </a:r>
            <a:r>
              <a:rPr>
                <a:solidFill>
                  <a:srgbClr val="EBF5EE"/>
                </a:solidFill>
              </a:rPr>
              <a:t>Deterministic 0ms keyword classifier + LLM intent fallback</a:t>
            </a:r>
          </a:p>
          <a:p>
            <a:pPr>
              <a:spcAft>
                <a:spcPts val="350"/>
              </a:spcAft>
              <a:defRPr sz="10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Hallmarking Agent: </a:t>
            </a:r>
            <a:r>
              <a:rPr>
                <a:solidFill>
                  <a:srgbClr val="EBF5EE"/>
                </a:solidFill>
              </a:rPr>
              <a:t>0-latency pure rule engine for 24K/22K/18K purity &amp; 6-digit HUID</a:t>
            </a:r>
          </a:p>
          <a:p>
            <a:pPr>
              <a:spcAft>
                <a:spcPts val="350"/>
              </a:spcAft>
              <a:defRPr sz="10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Consumer Rights Agent: </a:t>
            </a:r>
            <a:r>
              <a:rPr>
                <a:solidFill>
                  <a:srgbClr val="EBF5EE"/>
                </a:solidFill>
              </a:rPr>
              <a:t>Plain-language guidance with BIS CARE app &amp; 1915 helpline</a:t>
            </a:r>
          </a:p>
          <a:p>
            <a:pPr>
              <a:spcAft>
                <a:spcPts val="350"/>
              </a:spcAft>
              <a:defRPr sz="10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Translation Engine: </a:t>
            </a:r>
            <a:r>
              <a:rPr>
                <a:solidFill>
                  <a:srgbClr val="EBF5EE"/>
                </a:solidFill>
              </a:rPr>
              <a:t>Real-time bilingual synthesis into natural, fluent Hindi</a:t>
            </a:r>
          </a:p>
          <a:p>
            <a:pPr>
              <a:spcAft>
                <a:spcPts val="350"/>
              </a:spcAft>
              <a:defRPr sz="10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Fault Tolerance: </a:t>
            </a:r>
            <a:r>
              <a:rPr>
                <a:solidFill>
                  <a:srgbClr val="EBF5EE"/>
                </a:solidFill>
              </a:rPr>
              <a:t>Exponential backoff retry logic preventing GPU timeout crashes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50000" y="4020000"/>
            <a:ext cx="3800000" cy="380000"/>
          </a:xfrm>
          <a:prstGeom prst="roundRect">
            <a:avLst/>
          </a:prstGeom>
          <a:solidFill>
            <a:srgbClr val="C1FF7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06140C"/>
                </a:solidFill>
                <a:latin typeface="Arial"/>
              </a:defRPr>
            </a:pPr>
            <a:r>
              <a:t>BACKEND: CONSUMER &amp; VERIFICATION AGENTS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00000" y="6850000"/>
            <a:ext cx="5700000" cy="2350000"/>
          </a:xfrm>
          <a:prstGeom prst="roundRect">
            <a:avLst/>
          </a:prstGeom>
          <a:solidFill>
            <a:srgbClr val="07140D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237744" bIns="109728"/>
          <a:lstStyle/>
          <a:p>
            <a:pPr algn="ctr">
              <a:spcAft>
                <a:spcPts val="350"/>
              </a:spcAft>
              <a:defRPr sz="10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Vector Database: </a:t>
            </a:r>
            <a:r>
              <a:rPr>
                <a:solidFill>
                  <a:srgbClr val="EBF5EE"/>
                </a:solidFill>
              </a:rPr>
              <a:t>ChromaDB (Persistent local vector embeddings storage)</a:t>
            </a:r>
          </a:p>
          <a:p>
            <a:pPr>
              <a:spcAft>
                <a:spcPts val="350"/>
              </a:spcAft>
              <a:defRPr sz="10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Embedding Model: </a:t>
            </a:r>
            <a:r>
              <a:rPr>
                <a:solidFill>
                  <a:srgbClr val="EBF5EE"/>
                </a:solidFill>
              </a:rPr>
              <a:t>Nomic-Embed-Text generating 768-dimensional dense vectors</a:t>
            </a:r>
          </a:p>
          <a:p>
            <a:pPr>
              <a:spcAft>
                <a:spcPts val="350"/>
              </a:spcAft>
              <a:defRPr sz="10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Structured Rule DB: </a:t>
            </a:r>
            <a:r>
              <a:rPr>
                <a:solidFill>
                  <a:srgbClr val="EBF5EE"/>
                </a:solidFill>
              </a:rPr>
              <a:t>Optimized JSON rule stores for schemes, labs &amp; gold purity</a:t>
            </a:r>
          </a:p>
          <a:p>
            <a:pPr>
              <a:spcAft>
                <a:spcPts val="350"/>
              </a:spcAft>
              <a:defRPr sz="10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Document Store: </a:t>
            </a:r>
            <a:r>
              <a:rPr>
                <a:solidFill>
                  <a:srgbClr val="EBF5EE"/>
                </a:solidFill>
              </a:rPr>
              <a:t>Indexed Markdown knowledge base with clause metadata &amp; tags</a:t>
            </a:r>
          </a:p>
          <a:p>
            <a:pPr>
              <a:spcAft>
                <a:spcPts val="350"/>
              </a:spcAft>
              <a:defRPr sz="10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Data Privacy: </a:t>
            </a:r>
            <a:r>
              <a:rPr>
                <a:solidFill>
                  <a:srgbClr val="EBF5EE"/>
                </a:solidFill>
              </a:rPr>
              <a:t>100% on-premise local storage — zero data shared with cloud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50000" y="6670000"/>
            <a:ext cx="3800000" cy="380000"/>
          </a:xfrm>
          <a:prstGeom prst="roundRect">
            <a:avLst/>
          </a:prstGeom>
          <a:solidFill>
            <a:srgbClr val="2DD4B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06140C"/>
                </a:solidFill>
                <a:latin typeface="Arial"/>
              </a:defRPr>
            </a:pPr>
            <a:r>
              <a:t>DATABASE &amp; STORAGE LAYER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0000" y="6850000"/>
            <a:ext cx="5700000" cy="2350000"/>
          </a:xfrm>
          <a:prstGeom prst="roundRect">
            <a:avLst/>
          </a:prstGeom>
          <a:solidFill>
            <a:srgbClr val="07140D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237744" bIns="109728"/>
          <a:lstStyle/>
          <a:p>
            <a:pPr algn="ctr">
              <a:spcAft>
                <a:spcPts val="350"/>
              </a:spcAft>
              <a:defRPr sz="10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Model Server: </a:t>
            </a:r>
            <a:r>
              <a:rPr>
                <a:solidFill>
                  <a:srgbClr val="EBF5EE"/>
                </a:solidFill>
              </a:rPr>
              <a:t>Ollama Local Runtime with NVIDIA CUDA GPU acceleration</a:t>
            </a:r>
          </a:p>
          <a:p>
            <a:pPr>
              <a:spcAft>
                <a:spcPts val="350"/>
              </a:spcAft>
              <a:defRPr sz="10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Reasoning LLM: </a:t>
            </a:r>
            <a:r>
              <a:rPr>
                <a:solidFill>
                  <a:srgbClr val="EBF5EE"/>
                </a:solidFill>
              </a:rPr>
              <a:t>Qwen2.5 7B Instruct for domain reasoning &amp; bilingual translation</a:t>
            </a:r>
          </a:p>
          <a:p>
            <a:pPr>
              <a:spcAft>
                <a:spcPts val="350"/>
              </a:spcAft>
              <a:defRPr sz="10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Cost &amp; Dependency: </a:t>
            </a:r>
            <a:r>
              <a:rPr>
                <a:solidFill>
                  <a:srgbClr val="EBF5EE"/>
                </a:solidFill>
              </a:rPr>
              <a:t>100% Offline execution, $0 token cost, zero external API latency</a:t>
            </a:r>
          </a:p>
          <a:p>
            <a:pPr>
              <a:spcAft>
                <a:spcPts val="350"/>
              </a:spcAft>
              <a:defRPr sz="10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Hardware Tuning: </a:t>
            </a:r>
            <a:r>
              <a:rPr>
                <a:solidFill>
                  <a:srgbClr val="EBF5EE"/>
                </a:solidFill>
              </a:rPr>
              <a:t>Quantized to run smoothly on commodity 6–8GB VRAM (RTX 3050/3060)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50000" y="6670000"/>
            <a:ext cx="3800000" cy="380000"/>
          </a:xfrm>
          <a:prstGeom prst="roundRect">
            <a:avLst/>
          </a:prstGeom>
          <a:solidFill>
            <a:srgbClr val="2DD4B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06140C"/>
                </a:solidFill>
                <a:latin typeface="Arial"/>
              </a:defRPr>
            </a:pPr>
            <a:r>
              <a:t>LOCAL AI INFERENCE ENGINE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00000" y="1900000"/>
            <a:ext cx="3800000" cy="7300000"/>
          </a:xfrm>
          <a:prstGeom prst="roundRect">
            <a:avLst/>
          </a:prstGeom>
          <a:solidFill>
            <a:srgbClr val="0A1A11"/>
          </a:solidFill>
          <a:ln w="228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3800000" y="1720000"/>
            <a:ext cx="3000000" cy="450000"/>
          </a:xfrm>
          <a:prstGeom prst="roundRect">
            <a:avLst/>
          </a:prstGeom>
          <a:solidFill>
            <a:srgbClr val="2DD4B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06140C"/>
                </a:solidFill>
                <a:latin typeface="Anton"/>
              </a:defRPr>
            </a:pPr>
            <a:r>
              <a:t>TECH STACK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550000" y="2380000"/>
            <a:ext cx="3500000" cy="840000"/>
          </a:xfrm>
          <a:prstGeom prst="roundRect">
            <a:avLst/>
          </a:prstGeom>
          <a:solidFill>
            <a:srgbClr val="0D2619"/>
          </a:solidFill>
          <a:ln w="10160">
            <a:solidFill>
              <a:srgbClr val="194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javascri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60000" y="2490000"/>
            <a:ext cx="620000" cy="62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4400000" y="2430000"/>
            <a:ext cx="2680000" cy="7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250">
                <a:solidFill>
                  <a:srgbClr val="FFFFFF"/>
                </a:solidFill>
                <a:latin typeface="Arial"/>
              </a:defRPr>
            </a:pPr>
            <a:r>
              <a:t>JavaScript &amp; HTML5</a:t>
            </a:r>
          </a:p>
          <a:p>
            <a:r>
              <a:rPr b="1" sz="950">
                <a:solidFill>
                  <a:srgbClr val="C1FF72"/>
                </a:solidFill>
              </a:rPr>
              <a:t>[FRONTEND UI] </a:t>
            </a:r>
            <a:r>
              <a:rPr sz="950">
                <a:solidFill>
                  <a:srgbClr val="A0B9AA"/>
                </a:solidFill>
              </a:rPr>
              <a:t>Cyber-HUD Chat Interface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550000" y="3310000"/>
            <a:ext cx="3500000" cy="840000"/>
          </a:xfrm>
          <a:prstGeom prst="roundRect">
            <a:avLst/>
          </a:prstGeom>
          <a:solidFill>
            <a:srgbClr val="0D2619"/>
          </a:solidFill>
          <a:ln w="10160">
            <a:solidFill>
              <a:srgbClr val="194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astap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60000" y="3420000"/>
            <a:ext cx="620000" cy="620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4400000" y="3360000"/>
            <a:ext cx="2680000" cy="7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250">
                <a:solidFill>
                  <a:srgbClr val="FFFFFF"/>
                </a:solidFill>
                <a:latin typeface="Arial"/>
              </a:defRPr>
            </a:pPr>
            <a:r>
              <a:t>FastAPI</a:t>
            </a:r>
          </a:p>
          <a:p>
            <a:r>
              <a:rPr b="1" sz="950">
                <a:solidFill>
                  <a:srgbClr val="C1FF72"/>
                </a:solidFill>
              </a:rPr>
              <a:t>[API GATEWAY] </a:t>
            </a:r>
            <a:r>
              <a:rPr sz="950">
                <a:solidFill>
                  <a:srgbClr val="A0B9AA"/>
                </a:solidFill>
              </a:rPr>
              <a:t>Async REST Server (/chat)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550000" y="4240000"/>
            <a:ext cx="3500000" cy="840000"/>
          </a:xfrm>
          <a:prstGeom prst="roundRect">
            <a:avLst/>
          </a:prstGeom>
          <a:solidFill>
            <a:srgbClr val="0D2619"/>
          </a:solidFill>
          <a:ln w="10160">
            <a:solidFill>
              <a:srgbClr val="194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pyth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60000" y="4350000"/>
            <a:ext cx="620000" cy="620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4400000" y="4290000"/>
            <a:ext cx="2680000" cy="7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250">
                <a:solidFill>
                  <a:srgbClr val="FFFFFF"/>
                </a:solidFill>
                <a:latin typeface="Arial"/>
              </a:defRPr>
            </a:pPr>
            <a:r>
              <a:t>Python 3.10+</a:t>
            </a:r>
          </a:p>
          <a:p>
            <a:r>
              <a:rPr b="1" sz="950">
                <a:solidFill>
                  <a:srgbClr val="C1FF72"/>
                </a:solidFill>
              </a:rPr>
              <a:t>[BACKEND CORE] </a:t>
            </a:r>
            <a:r>
              <a:rPr sz="950">
                <a:solidFill>
                  <a:srgbClr val="A0B9AA"/>
                </a:solidFill>
              </a:rPr>
              <a:t>Agent Swarm Orchestrator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550000" y="5170000"/>
            <a:ext cx="3500000" cy="840000"/>
          </a:xfrm>
          <a:prstGeom prst="roundRect">
            <a:avLst/>
          </a:prstGeom>
          <a:solidFill>
            <a:srgbClr val="0D2619"/>
          </a:solidFill>
          <a:ln w="10160">
            <a:solidFill>
              <a:srgbClr val="194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chrom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60000" y="5280000"/>
            <a:ext cx="620000" cy="6200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4400000" y="5220000"/>
            <a:ext cx="2680000" cy="7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250">
                <a:solidFill>
                  <a:srgbClr val="FFFFFF"/>
                </a:solidFill>
                <a:latin typeface="Arial"/>
              </a:defRPr>
            </a:pPr>
            <a:r>
              <a:t>ChromaDB</a:t>
            </a:r>
          </a:p>
          <a:p>
            <a:r>
              <a:rPr b="1" sz="950">
                <a:solidFill>
                  <a:srgbClr val="C1FF72"/>
                </a:solidFill>
              </a:rPr>
              <a:t>[DATABASE] </a:t>
            </a:r>
            <a:r>
              <a:rPr sz="950">
                <a:solidFill>
                  <a:srgbClr val="A0B9AA"/>
                </a:solidFill>
              </a:rPr>
              <a:t>Vector RAG + JSON Stores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550000" y="6100000"/>
            <a:ext cx="3500000" cy="840000"/>
          </a:xfrm>
          <a:prstGeom prst="roundRect">
            <a:avLst/>
          </a:prstGeom>
          <a:solidFill>
            <a:srgbClr val="0D2619"/>
          </a:solidFill>
          <a:ln w="10160">
            <a:solidFill>
              <a:srgbClr val="194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ollam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60000" y="6210000"/>
            <a:ext cx="620000" cy="620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4400000" y="6150000"/>
            <a:ext cx="2680000" cy="7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250">
                <a:solidFill>
                  <a:srgbClr val="FFFFFF"/>
                </a:solidFill>
                <a:latin typeface="Arial"/>
              </a:defRPr>
            </a:pPr>
            <a:r>
              <a:t>Ollama Engine</a:t>
            </a:r>
          </a:p>
          <a:p>
            <a:r>
              <a:rPr b="1" sz="950">
                <a:solidFill>
                  <a:srgbClr val="C1FF72"/>
                </a:solidFill>
              </a:rPr>
              <a:t>[AI RUNTIME] </a:t>
            </a:r>
            <a:r>
              <a:rPr sz="950">
                <a:solidFill>
                  <a:srgbClr val="A0B9AA"/>
                </a:solidFill>
              </a:rPr>
              <a:t>Local GPU Model Host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3550000" y="7030000"/>
            <a:ext cx="3500000" cy="840000"/>
          </a:xfrm>
          <a:prstGeom prst="roundRect">
            <a:avLst/>
          </a:prstGeom>
          <a:solidFill>
            <a:srgbClr val="0D2619"/>
          </a:solidFill>
          <a:ln w="10160">
            <a:solidFill>
              <a:srgbClr val="194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qwe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60000" y="7140000"/>
            <a:ext cx="620000" cy="620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4400000" y="7080000"/>
            <a:ext cx="2680000" cy="7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250">
                <a:solidFill>
                  <a:srgbClr val="FFFFFF"/>
                </a:solidFill>
                <a:latin typeface="Arial"/>
              </a:defRPr>
            </a:pPr>
            <a:r>
              <a:t>Qwen2.5 7B</a:t>
            </a:r>
          </a:p>
          <a:p>
            <a:r>
              <a:rPr b="1" sz="950">
                <a:solidFill>
                  <a:srgbClr val="C1FF72"/>
                </a:solidFill>
              </a:rPr>
              <a:t>[REASONING LLM] </a:t>
            </a:r>
            <a:r>
              <a:rPr sz="950">
                <a:solidFill>
                  <a:srgbClr val="A0B9AA"/>
                </a:solidFill>
              </a:rPr>
              <a:t>Bilingual Domain Generation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3550000" y="7960000"/>
            <a:ext cx="3500000" cy="840000"/>
          </a:xfrm>
          <a:prstGeom prst="roundRect">
            <a:avLst/>
          </a:prstGeom>
          <a:solidFill>
            <a:srgbClr val="0D2619"/>
          </a:solidFill>
          <a:ln w="10160">
            <a:solidFill>
              <a:srgbClr val="194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nvidi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60000" y="8070000"/>
            <a:ext cx="620000" cy="620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4400000" y="8010000"/>
            <a:ext cx="2680000" cy="7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250">
                <a:solidFill>
                  <a:srgbClr val="FFFFFF"/>
                </a:solidFill>
                <a:latin typeface="Arial"/>
              </a:defRPr>
            </a:pPr>
            <a:r>
              <a:t>NVIDIA CUDA</a:t>
            </a:r>
          </a:p>
          <a:p>
            <a:r>
              <a:rPr b="1" sz="950">
                <a:solidFill>
                  <a:srgbClr val="C1FF72"/>
                </a:solidFill>
              </a:rPr>
              <a:t>[GPU HARDWARE] </a:t>
            </a:r>
            <a:r>
              <a:rPr sz="950">
                <a:solidFill>
                  <a:srgbClr val="A0B9AA"/>
                </a:solidFill>
              </a:rPr>
              <a:t>Zero-Latency Acceleration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885135" y="1650121"/>
            <a:ext cx="16517730" cy="0"/>
          </a:xfrm>
          <a:prstGeom prst="line">
            <a:avLst/>
          </a:prstGeom>
          <a:ln w="104775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354127" y="1028700"/>
            <a:ext cx="0" cy="131523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855271" y="363164"/>
            <a:ext cx="8759898" cy="1046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32"/>
              </a:lnSpc>
              <a:spcBef>
                <a:spcPct val="0"/>
              </a:spcBef>
            </a:pPr>
            <a:r>
              <a:rPr lang="en-US" sz="6166" spc="314">
                <a:solidFill>
                  <a:srgbClr val="C1FF72"/>
                </a:solidFill>
                <a:latin typeface="Anton"/>
                <a:ea typeface="Anton"/>
                <a:cs typeface="Anton"/>
                <a:sym typeface="Anton"/>
              </a:rPr>
              <a:t>FEASIBILITY &amp; IMPACT</a:t>
            </a:r>
          </a:p>
        </p:txBody>
      </p:sp>
      <p:sp>
        <p:nvSpPr>
          <p:cNvPr id="6" name="Freeform 6"/>
          <p:cNvSpPr/>
          <p:nvPr/>
        </p:nvSpPr>
        <p:spPr>
          <a:xfrm>
            <a:off x="1487477" y="439364"/>
            <a:ext cx="1177667" cy="1108446"/>
          </a:xfrm>
          <a:custGeom>
            <a:avLst/>
            <a:gdLst/>
            <a:ahLst/>
            <a:cxnLst/>
            <a:rect l="l" t="t" r="r" b="b"/>
            <a:pathLst>
              <a:path w="1177667" h="1108446">
                <a:moveTo>
                  <a:pt x="0" y="0"/>
                </a:moveTo>
                <a:lnTo>
                  <a:pt x="1177666" y="0"/>
                </a:lnTo>
                <a:lnTo>
                  <a:pt x="1177666" y="1108446"/>
                </a:lnTo>
                <a:lnTo>
                  <a:pt x="0" y="11084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>
            <a:off x="1506527" y="1181100"/>
            <a:ext cx="0" cy="131523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Rounded Rectangle 8"/>
          <p:cNvSpPr/>
          <p:nvPr/>
        </p:nvSpPr>
        <p:spPr>
          <a:xfrm>
            <a:off x="1400000" y="2000000"/>
            <a:ext cx="7500000" cy="3350000"/>
          </a:xfrm>
          <a:prstGeom prst="roundRect">
            <a:avLst/>
          </a:prstGeom>
          <a:solidFill>
            <a:srgbClr val="07140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1000"/>
              </a:spcAft>
              <a:defRPr b="1" sz="1550">
                <a:solidFill>
                  <a:srgbClr val="C1FF72"/>
                </a:solidFill>
                <a:latin typeface="Arial"/>
              </a:defRPr>
            </a:pPr>
            <a:r>
              <a:t>IMPLEMENTATION VIABILITY (DEMO-READY)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Fully Operational MVP: </a:t>
            </a:r>
            <a:r>
              <a:rPr>
                <a:solidFill>
                  <a:srgbClr val="EBF5EE"/>
                </a:solidFill>
              </a:rPr>
              <a:t>Complete end-to-end working software ready and demonstrated live today.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Commodity Hardware: </a:t>
            </a:r>
            <a:r>
              <a:rPr>
                <a:solidFill>
                  <a:srgbClr val="EBF5EE"/>
                </a:solidFill>
              </a:rPr>
              <a:t>Runs comfortably on standard 6–8GB VRAM consumer GPUs (RTX 3050/3060).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Zero Operational Cost: </a:t>
            </a:r>
            <a:r>
              <a:rPr>
                <a:solidFill>
                  <a:srgbClr val="EBF5EE"/>
                </a:solidFill>
              </a:rPr>
              <a:t>100% local inference eliminates expensive API token billing ($0 deployment cost).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Guaranteed Demo Uptime: </a:t>
            </a:r>
            <a:r>
              <a:rPr>
                <a:solidFill>
                  <a:srgbClr val="EBF5EE"/>
                </a:solidFill>
              </a:rPr>
              <a:t>Zero reliance on external internet connections or third-party cloud availability.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88000" y="2000000"/>
            <a:ext cx="7500000" cy="3350000"/>
          </a:xfrm>
          <a:prstGeom prst="roundRect">
            <a:avLst/>
          </a:prstGeom>
          <a:solidFill>
            <a:srgbClr val="07140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1000"/>
              </a:spcAft>
              <a:defRPr b="1" sz="1550">
                <a:solidFill>
                  <a:srgbClr val="C1FF72"/>
                </a:solidFill>
                <a:latin typeface="Arial"/>
              </a:defRPr>
            </a:pPr>
            <a:r>
              <a:t>TECHNICAL FOUNDATION &amp; SCALABILITY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Modular Micro-Agents: </a:t>
            </a:r>
            <a:r>
              <a:rPr>
                <a:solidFill>
                  <a:srgbClr val="EBF5EE"/>
                </a:solidFill>
              </a:rPr>
              <a:t>Decoupled architecture enables hot-plugging new standards and agent services.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Grounded RAG Pipeline: </a:t>
            </a:r>
            <a:r>
              <a:rPr>
                <a:solidFill>
                  <a:srgbClr val="EBF5EE"/>
                </a:solidFill>
              </a:rPr>
              <a:t>Strict citation anchoring eliminates hallucinations and prevents legal misinformation.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Sub-Second Latency: </a:t>
            </a:r>
            <a:r>
              <a:rPr>
                <a:solidFill>
                  <a:srgbClr val="EBF5EE"/>
                </a:solidFill>
              </a:rPr>
              <a:t>Deterministic rule engines deliver instantaneous responses for hallmarking &amp; labs.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Production-Ready Schema: </a:t>
            </a:r>
            <a:r>
              <a:rPr>
                <a:solidFill>
                  <a:srgbClr val="EBF5EE"/>
                </a:solidFill>
              </a:rPr>
              <a:t>Pydantic validated data structures ensure seamless future BIS CARE API sync.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00000" y="5650000"/>
            <a:ext cx="7500000" cy="3350000"/>
          </a:xfrm>
          <a:prstGeom prst="roundRect">
            <a:avLst/>
          </a:prstGeom>
          <a:solidFill>
            <a:srgbClr val="07140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1000"/>
              </a:spcAft>
              <a:defRPr b="1" sz="1550">
                <a:solidFill>
                  <a:srgbClr val="C1FF72"/>
                </a:solidFill>
                <a:latin typeface="Arial"/>
              </a:defRPr>
            </a:pPr>
            <a:r>
              <a:t>MEASURABLE OUTCOMES &amp; IMPACT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98% Time Reduction: </a:t>
            </a:r>
            <a:r>
              <a:rPr>
                <a:solidFill>
                  <a:srgbClr val="EBF5EE"/>
                </a:solidFill>
              </a:rPr>
              <a:t>Compresses compliance research from 3–5 hours across portals to &lt;5 seconds.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Empowering 63M+ MSMEs: </a:t>
            </a:r>
            <a:r>
              <a:rPr>
                <a:solidFill>
                  <a:srgbClr val="EBF5EE"/>
                </a:solidFill>
              </a:rPr>
              <a:t>Democratizes complex regulatory access, saving lakhs in third-party consultancy.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Consumer Fraud Protection: </a:t>
            </a:r>
            <a:r>
              <a:rPr>
                <a:solidFill>
                  <a:srgbClr val="EBF5EE"/>
                </a:solidFill>
              </a:rPr>
              <a:t>Instant 6-digit HUID format checks shield buyers from counterfeit jewellery.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Linguistic Inclusion: </a:t>
            </a:r>
            <a:r>
              <a:rPr>
                <a:solidFill>
                  <a:srgbClr val="EBF5EE"/>
                </a:solidFill>
              </a:rPr>
              <a:t>Hindi support empowers Tier-2 and rural artisans to achieve formal BIS certification.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88000" y="5650000"/>
            <a:ext cx="7500000" cy="3350000"/>
          </a:xfrm>
          <a:prstGeom prst="roundRect">
            <a:avLst/>
          </a:prstGeom>
          <a:solidFill>
            <a:srgbClr val="07140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1000"/>
              </a:spcAft>
              <a:defRPr b="1" sz="1550">
                <a:solidFill>
                  <a:srgbClr val="C1FF72"/>
                </a:solidFill>
                <a:latin typeface="Arial"/>
              </a:defRPr>
            </a:pPr>
            <a:r>
              <a:t>CONCLUSION &amp; NOVELTY (INFOTHON 7.0)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Full Spectrum Coverage: </a:t>
            </a:r>
            <a:r>
              <a:rPr>
                <a:solidFill>
                  <a:srgbClr val="EBF5EE"/>
                </a:solidFill>
              </a:rPr>
              <a:t>The only platform unifying all 8 core BIS capabilities into one conversational interface.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Transparent &amp; Auditable: </a:t>
            </a:r>
            <a:r>
              <a:rPr>
                <a:solidFill>
                  <a:srgbClr val="EBF5EE"/>
                </a:solidFill>
              </a:rPr>
              <a:t>Every synthesized answer includes auditable source standard clauses and agent badges.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National Scalability: </a:t>
            </a:r>
            <a:r>
              <a:rPr>
                <a:solidFill>
                  <a:srgbClr val="EBF5EE"/>
                </a:solidFill>
              </a:rPr>
              <a:t>Extensible to all 20,000+ Indian Standards covering 15 core national industry sectors.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Autonomous Vision: </a:t>
            </a:r>
            <a:r>
              <a:rPr>
                <a:solidFill>
                  <a:srgbClr val="EBF5EE"/>
                </a:solidFill>
              </a:rPr>
              <a:t>Directly fulfills the theme: 'Architecting an Autonomous Tomorrow' for Indian regulatory compliance.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028700" y="1619845"/>
            <a:ext cx="16517730" cy="0"/>
          </a:xfrm>
          <a:prstGeom prst="line">
            <a:avLst/>
          </a:prstGeom>
          <a:ln w="104775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354127" y="1028700"/>
            <a:ext cx="0" cy="131523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2900000" y="360000"/>
            <a:ext cx="14000000" cy="2112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3600">
                <a:solidFill>
                  <a:srgbClr val="C1FF72"/>
                </a:solidFill>
                <a:latin typeface="Anton"/>
              </a:defRPr>
            </a:pPr>
            <a:r>
              <a:t>SYSTEM ARCHITECTURE &amp; DEMO</a:t>
            </a:r>
          </a:p>
        </p:txBody>
      </p:sp>
      <p:sp>
        <p:nvSpPr>
          <p:cNvPr id="6" name="Freeform 6"/>
          <p:cNvSpPr/>
          <p:nvPr/>
        </p:nvSpPr>
        <p:spPr>
          <a:xfrm>
            <a:off x="1610367" y="373287"/>
            <a:ext cx="1177667" cy="1108446"/>
          </a:xfrm>
          <a:custGeom>
            <a:avLst/>
            <a:gdLst/>
            <a:ahLst/>
            <a:cxnLst/>
            <a:rect l="l" t="t" r="r" b="b"/>
            <a:pathLst>
              <a:path w="1177667" h="1108446">
                <a:moveTo>
                  <a:pt x="0" y="0"/>
                </a:moveTo>
                <a:lnTo>
                  <a:pt x="1177666" y="0"/>
                </a:lnTo>
                <a:lnTo>
                  <a:pt x="1177666" y="1108446"/>
                </a:lnTo>
                <a:lnTo>
                  <a:pt x="0" y="11084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>
            <a:off x="1211252" y="1243422"/>
            <a:ext cx="0" cy="131523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Rounded Rectangle 8"/>
          <p:cNvSpPr/>
          <p:nvPr/>
        </p:nvSpPr>
        <p:spPr>
          <a:xfrm>
            <a:off x="1400000" y="1900000"/>
            <a:ext cx="7600000" cy="7000000"/>
          </a:xfrm>
          <a:prstGeom prst="roundRect">
            <a:avLst/>
          </a:prstGeom>
          <a:solidFill>
            <a:srgbClr val="07140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1000"/>
              </a:spcAft>
              <a:defRPr b="1" sz="1550">
                <a:solidFill>
                  <a:srgbClr val="C1FF72"/>
                </a:solidFill>
                <a:latin typeface="Arial"/>
              </a:defRPr>
            </a:pPr>
            <a:r>
              <a:t>MULTI-AGENT SWARM ARCHITECTURE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Frontend Layer: </a:t>
            </a:r>
            <a:r>
              <a:rPr>
                <a:solidFill>
                  <a:srgbClr val="EBF5EE"/>
                </a:solidFill>
              </a:rPr>
              <a:t>Responsive Web Chat Interface with English &amp; हिन्दी toggles.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API Gateway: </a:t>
            </a:r>
            <a:r>
              <a:rPr>
                <a:solidFill>
                  <a:srgbClr val="EBF5EE"/>
                </a:solidFill>
              </a:rPr>
              <a:t>FastAPI async server managing conversation context &amp; session routing.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Backend Router: </a:t>
            </a:r>
            <a:r>
              <a:rPr>
                <a:solidFill>
                  <a:srgbClr val="EBF5EE"/>
                </a:solidFill>
              </a:rPr>
              <a:t>Deterministic keyword classifier (0ms) + LLM intent fallback: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  • Retriever Agent (RAG): </a:t>
            </a:r>
            <a:r>
              <a:rPr>
                <a:solidFill>
                  <a:srgbClr val="EBF5EE"/>
                </a:solidFill>
              </a:rPr>
              <a:t>Cosine similarity search over ChromaDB + nomic-embed-text.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  • Certification Agent: </a:t>
            </a:r>
            <a:r>
              <a:rPr>
                <a:solidFill>
                  <a:srgbClr val="EBF5EE"/>
                </a:solidFill>
              </a:rPr>
              <a:t>Maps products to ISI / CRS / FMCS schemes &amp; application timelines.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  • Consumer Agent: </a:t>
            </a:r>
            <a:r>
              <a:rPr>
                <a:solidFill>
                  <a:srgbClr val="EBF5EE"/>
                </a:solidFill>
              </a:rPr>
              <a:t>Plain-language explanations linked with BIS CARE app &amp; 1915 helpline.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  • Hallmarking Agent: </a:t>
            </a:r>
            <a:r>
              <a:rPr>
                <a:solidFill>
                  <a:srgbClr val="EBF5EE"/>
                </a:solidFill>
              </a:rPr>
              <a:t>0-latency rule checks for 24K/22K/18K gold purity &amp; 6-digit HUID.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  • Lab Finder Agent: </a:t>
            </a:r>
            <a:r>
              <a:rPr>
                <a:solidFill>
                  <a:srgbClr val="EBF5EE"/>
                </a:solidFill>
              </a:rPr>
              <a:t>Geo-directory filtering recognized testing laboratories by domain.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Database Layer: </a:t>
            </a:r>
            <a:r>
              <a:rPr>
                <a:solidFill>
                  <a:srgbClr val="EBF5EE"/>
                </a:solidFill>
              </a:rPr>
              <a:t>ChromaDB vector store + structured JSON rule engines.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Local AI Synthesis: </a:t>
            </a:r>
            <a:r>
              <a:rPr>
                <a:solidFill>
                  <a:srgbClr val="EBF5EE"/>
                </a:solidFill>
              </a:rPr>
              <a:t>Qwen2.5-7B Instruct synthesizes grounded answers on local GPU.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00000" y="1900000"/>
            <a:ext cx="7588000" cy="7000000"/>
          </a:xfrm>
          <a:prstGeom prst="roundRect">
            <a:avLst/>
          </a:prstGeom>
          <a:solidFill>
            <a:srgbClr val="07140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1000"/>
              </a:spcAft>
              <a:defRPr b="1" sz="1550">
                <a:solidFill>
                  <a:srgbClr val="C1FF72"/>
                </a:solidFill>
                <a:latin typeface="Arial"/>
              </a:defRPr>
            </a:pPr>
            <a:r>
              <a:t>LIVE DEMO VALIDATION SCENARIOS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Scenario 1: MSME Industry Guidance: </a:t>
            </a:r>
            <a:r>
              <a:rPr>
                <a:solidFill>
                  <a:srgbClr val="EBF5EE"/>
                </a:solidFill>
              </a:rPr>
              <a:t>LED Bulb manufacturer asks: 'How do I certify my LED lights?'
➔ Certification Agent explains CRS scheme with IS 16102 standard citation.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Scenario 2: Consumer Protection in Hindi: </a:t>
            </a:r>
            <a:r>
              <a:rPr>
                <a:solidFill>
                  <a:srgbClr val="EBF5EE"/>
                </a:solidFill>
              </a:rPr>
              <a:t>User asks: '22 कैरेट सोने पर क्या हॉलमार्क होना चाहिए?'
➔ Hallmarking Agent responds in Hindi with 916 purity mark and HUID verification.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Scenario 3: Testing Lab Locator: </a:t>
            </a:r>
            <a:r>
              <a:rPr>
                <a:solidFill>
                  <a:srgbClr val="EBF5EE"/>
                </a:solidFill>
              </a:rPr>
              <a:t>User asks: 'Where can I test packaged drinking water in Karnataka?'
➔ Lab Finder Agent returns accredited labs for IS 14543 with contact data.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Scenario 4: Visual Agent Attribution: </a:t>
            </a:r>
            <a:r>
              <a:rPr>
                <a:solidFill>
                  <a:srgbClr val="EBF5EE"/>
                </a:solidFill>
              </a:rPr>
              <a:t>Every answer displays a live badge: 'Answered by: [Agent Name]'
➔ Proves autonomous routing live to hackathon judges with zero fake mockups.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4ADE80"/>
                </a:solidFill>
              </a:rPr>
              <a:t>• Future Roadmap: </a:t>
            </a:r>
            <a:r>
              <a:rPr>
                <a:solidFill>
                  <a:srgbClr val="EBF5EE"/>
                </a:solidFill>
              </a:rPr>
              <a:t>Direct BIS CARE API sync, voice telephony for rural artisans, &amp; cataloging 20,000+ national standards.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399</Words>
  <Application>Microsoft Office PowerPoint</Application>
  <PresentationFormat>Custom</PresentationFormat>
  <Paragraphs>56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Canva Sans Bold</vt:lpstr>
      <vt:lpstr>Calibri</vt:lpstr>
      <vt:lpstr>Anton</vt:lpstr>
      <vt:lpstr>Canva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infothon 7.0 template</dc:title>
  <cp:lastModifiedBy>Sukrutha k</cp:lastModifiedBy>
  <cp:revision>2</cp:revision>
  <dcterms:created xsi:type="dcterms:W3CDTF">2006-08-16T00:00:00Z</dcterms:created>
  <dcterms:modified xsi:type="dcterms:W3CDTF">2026-09-12T18:05:11Z</dcterms:modified>
  <dc:identifier>DAHU_niiCtg</dc:identifier>
</cp:coreProperties>
</file>